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ora" charset="1" panose="00000500000000000000"/>
      <p:regular r:id="rId13"/>
    </p:embeddedFont>
    <p:embeddedFont>
      <p:font typeface="Lora Bold" charset="1" panose="00000800000000000000"/>
      <p:regular r:id="rId14"/>
    </p:embeddedFont>
    <p:embeddedFont>
      <p:font typeface="Prata" charset="1" panose="00000500000000000000"/>
      <p:regular r:id="rId15"/>
    </p:embeddedFont>
    <p:embeddedFont>
      <p:font typeface="Canva Sans Bold" charset="1" panose="020B08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maps.app.goo.gl/8bjmv966vMDHqreV6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png" Type="http://schemas.openxmlformats.org/officeDocument/2006/relationships/image"/><Relationship Id="rId6" Target="https://maps.app.goo.gl/8bjmv966vMDHqreV6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png" Type="http://schemas.openxmlformats.org/officeDocument/2006/relationships/image"/><Relationship Id="rId6" Target="https://maps.app.goo.gl/8bjmv966vMDHqreV6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9.png" Type="http://schemas.openxmlformats.org/officeDocument/2006/relationships/image"/><Relationship Id="rId6" Target="https://maps.app.goo.gl/8bjmv966vMDHqreV6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0550" y="2774232"/>
            <a:ext cx="11608445" cy="153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9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Etihad Airways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19005" y="4231567"/>
            <a:ext cx="11608445" cy="620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998D89"/>
                </a:solidFill>
                <a:latin typeface="Lora Bold"/>
                <a:ea typeface="Lora Bold"/>
                <a:cs typeface="Lora Bold"/>
                <a:sym typeface="Lora Bold"/>
              </a:rPr>
              <a:t>US Out-Of-Home campaign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2172328" y="7572548"/>
            <a:ext cx="11608445" cy="68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Beyond Borders Campaign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502066" y="8334018"/>
            <a:ext cx="11608445" cy="38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998D89"/>
                </a:solidFill>
                <a:latin typeface="Lora Bold"/>
                <a:ea typeface="Lora Bold"/>
                <a:cs typeface="Lora Bold"/>
                <a:sym typeface="Lora Bold"/>
              </a:rPr>
              <a:t>Duration: July 7 - August 7 2026 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-674622" y="8799471"/>
            <a:ext cx="19542952" cy="1819270"/>
          </a:xfrm>
          <a:custGeom>
            <a:avLst/>
            <a:gdLst/>
            <a:ahLst/>
            <a:cxnLst/>
            <a:rect r="r" b="b" t="t" l="l"/>
            <a:pathLst>
              <a:path h="1819270" w="19542952">
                <a:moveTo>
                  <a:pt x="19542952" y="0"/>
                </a:moveTo>
                <a:lnTo>
                  <a:pt x="0" y="0"/>
                </a:lnTo>
                <a:lnTo>
                  <a:pt x="0" y="1819270"/>
                </a:lnTo>
                <a:lnTo>
                  <a:pt x="19542952" y="1819270"/>
                </a:lnTo>
                <a:lnTo>
                  <a:pt x="19542952" y="0"/>
                </a:lnTo>
                <a:close/>
              </a:path>
            </a:pathLst>
          </a:custGeom>
          <a:blipFill>
            <a:blip r:embed="rId2"/>
            <a:stretch>
              <a:fillRect l="0" t="-504248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54570" y="3479017"/>
            <a:ext cx="12562107" cy="166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34"/>
              </a:lnSpc>
            </a:pPr>
            <a:r>
              <a:rPr lang="en-US" sz="973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United States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674622" y="8799471"/>
            <a:ext cx="19542952" cy="1819270"/>
          </a:xfrm>
          <a:custGeom>
            <a:avLst/>
            <a:gdLst/>
            <a:ahLst/>
            <a:cxnLst/>
            <a:rect r="r" b="b" t="t" l="l"/>
            <a:pathLst>
              <a:path h="1819270" w="19542952">
                <a:moveTo>
                  <a:pt x="19542952" y="0"/>
                </a:moveTo>
                <a:lnTo>
                  <a:pt x="0" y="0"/>
                </a:lnTo>
                <a:lnTo>
                  <a:pt x="0" y="1819270"/>
                </a:lnTo>
                <a:lnTo>
                  <a:pt x="19542952" y="1819270"/>
                </a:lnTo>
                <a:lnTo>
                  <a:pt x="19542952" y="0"/>
                </a:lnTo>
                <a:close/>
              </a:path>
            </a:pathLst>
          </a:custGeom>
          <a:blipFill>
            <a:blip r:embed="rId2"/>
            <a:stretch>
              <a:fillRect l="0" t="-504248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322177" y="247015"/>
            <a:ext cx="186101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291038" y="247015"/>
            <a:ext cx="9996962" cy="7183492"/>
          </a:xfrm>
          <a:custGeom>
            <a:avLst/>
            <a:gdLst/>
            <a:ahLst/>
            <a:cxnLst/>
            <a:rect r="r" b="b" t="t" l="l"/>
            <a:pathLst>
              <a:path h="7183492" w="9996962">
                <a:moveTo>
                  <a:pt x="0" y="0"/>
                </a:moveTo>
                <a:lnTo>
                  <a:pt x="9996962" y="0"/>
                </a:lnTo>
                <a:lnTo>
                  <a:pt x="9996962" y="7183492"/>
                </a:lnTo>
                <a:lnTo>
                  <a:pt x="0" y="7183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318" r="-32788" b="-3203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694355" y="9438672"/>
            <a:ext cx="19542952" cy="1140581"/>
          </a:xfrm>
          <a:custGeom>
            <a:avLst/>
            <a:gdLst/>
            <a:ahLst/>
            <a:cxnLst/>
            <a:rect r="r" b="b" t="t" l="l"/>
            <a:pathLst>
              <a:path h="1140581" w="19542952">
                <a:moveTo>
                  <a:pt x="19542952" y="0"/>
                </a:moveTo>
                <a:lnTo>
                  <a:pt x="0" y="0"/>
                </a:lnTo>
                <a:lnTo>
                  <a:pt x="0" y="1140581"/>
                </a:lnTo>
                <a:lnTo>
                  <a:pt x="19542952" y="1140581"/>
                </a:lnTo>
                <a:lnTo>
                  <a:pt x="19542952" y="0"/>
                </a:lnTo>
                <a:close/>
              </a:path>
            </a:pathLst>
          </a:custGeom>
          <a:blipFill>
            <a:blip r:embed="rId3"/>
            <a:stretch>
              <a:fillRect l="0" t="-863799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2578156" y="8269006"/>
            <a:ext cx="0" cy="1040620"/>
          </a:xfrm>
          <a:prstGeom prst="line">
            <a:avLst/>
          </a:prstGeom>
          <a:ln cap="flat" w="9525">
            <a:solidFill>
              <a:srgbClr val="998D8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1369" y="7545114"/>
            <a:ext cx="4628806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A12C2B"/>
                </a:solidFill>
                <a:latin typeface="Lora Bold"/>
                <a:ea typeface="Lora Bold"/>
                <a:cs typeface="Lora Bold"/>
                <a:sym typeface="Lora Bold"/>
              </a:rPr>
              <a:t>TECHNICAL SPECIFICATIONS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4572" y="8230306"/>
            <a:ext cx="1771196" cy="1169666"/>
            <a:chOff x="0" y="0"/>
            <a:chExt cx="2361594" cy="155955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2256628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FORMAT : Digital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58210"/>
              <a:ext cx="2361594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SIZE : 8 x 4 m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48195"/>
              <a:ext cx="2221590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UNITS : 4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44997" y="8259550"/>
            <a:ext cx="3710357" cy="1111178"/>
            <a:chOff x="0" y="0"/>
            <a:chExt cx="4947143" cy="148157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0044" y="-28575"/>
              <a:ext cx="4668564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SPOT LENGTH : 10 seconds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69926"/>
              <a:ext cx="4688651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FREQUENCY : 20%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70211"/>
              <a:ext cx="4947143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TRAFFIC : 2,000,000 monthly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31521" y="7851818"/>
            <a:ext cx="7013042" cy="1949680"/>
            <a:chOff x="0" y="0"/>
            <a:chExt cx="9350723" cy="2599574"/>
          </a:xfrm>
        </p:grpSpPr>
        <p:sp>
          <p:nvSpPr>
            <p:cNvPr name="AutoShape 16" id="16"/>
            <p:cNvSpPr/>
            <p:nvPr/>
          </p:nvSpPr>
          <p:spPr>
            <a:xfrm flipH="true" flipV="true">
              <a:off x="1363517" y="24184"/>
              <a:ext cx="4634722" cy="11484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H="true" flipV="true">
              <a:off x="1372021" y="2586874"/>
              <a:ext cx="4626217" cy="635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188267"/>
              <a:ext cx="6171741" cy="3333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A12C2B"/>
                  </a:solidFill>
                  <a:latin typeface="Lora Bold"/>
                  <a:ea typeface="Lora Bold"/>
                  <a:cs typeface="Lora Bold"/>
                  <a:sym typeface="Lora Bold"/>
                </a:rPr>
                <a:t>NEARBY LANDMARKS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116761" y="1439487"/>
              <a:ext cx="7233962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- 100m </a:t>
              </a:r>
            </a:p>
          </p:txBody>
        </p:sp>
        <p:sp>
          <p:nvSpPr>
            <p:cNvPr name="AutoShape 20" id="20"/>
            <p:cNvSpPr/>
            <p:nvPr/>
          </p:nvSpPr>
          <p:spPr>
            <a:xfrm flipV="true">
              <a:off x="1390443" y="0"/>
              <a:ext cx="0" cy="2557555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V="true">
              <a:off x="5998238" y="35669"/>
              <a:ext cx="0" cy="2557555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575256" y="801041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612693" y="1444503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645106" y="2113366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5" id="25"/>
            <p:cNvSpPr/>
            <p:nvPr/>
          </p:nvSpPr>
          <p:spPr>
            <a:xfrm flipH="true">
              <a:off x="2067299" y="1271784"/>
              <a:ext cx="3990464" cy="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H="true" flipV="true">
              <a:off x="2050685" y="1957003"/>
              <a:ext cx="3947554" cy="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7" id="27"/>
            <p:cNvSpPr txBox="true"/>
            <p:nvPr/>
          </p:nvSpPr>
          <p:spPr>
            <a:xfrm rot="0">
              <a:off x="2067288" y="763666"/>
              <a:ext cx="5756269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- 100m 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161874" y="2095339"/>
              <a:ext cx="6229889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 m 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579" y="347027"/>
            <a:ext cx="729153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ONE TIMES SQUARE 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0" y="2469086"/>
            <a:ext cx="6465193" cy="4282883"/>
            <a:chOff x="0" y="0"/>
            <a:chExt cx="8620257" cy="5710511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38100"/>
              <a:ext cx="4226472" cy="491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6"/>
                </a:lnSpc>
              </a:pPr>
              <a:r>
                <a:rPr lang="en-US" b="true" sz="2254">
                  <a:solidFill>
                    <a:srgbClr val="A12C2B"/>
                  </a:solidFill>
                  <a:latin typeface="Lora Bold"/>
                  <a:ea typeface="Lora Bold"/>
                  <a:cs typeface="Lora Bold"/>
                  <a:sym typeface="Lora Bold"/>
                </a:rPr>
                <a:t>LOCATION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016505" y="2041618"/>
              <a:ext cx="2049839" cy="967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8"/>
                </a:lnSpc>
              </a:pPr>
              <a:r>
                <a:rPr lang="en-US" b="true" sz="2141">
                  <a:solidFill>
                    <a:srgbClr val="A12C2B"/>
                  </a:solidFill>
                  <a:latin typeface="Lora Bold"/>
                  <a:ea typeface="Lora Bold"/>
                  <a:cs typeface="Lora Bold"/>
                  <a:sym typeface="Lora Bold"/>
                </a:rPr>
                <a:t>VISIBILITY 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940858" y="4062197"/>
              <a:ext cx="2283510" cy="466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8"/>
                </a:lnSpc>
              </a:pPr>
              <a:r>
                <a:rPr lang="en-US" b="true" sz="2141">
                  <a:solidFill>
                    <a:srgbClr val="A12C2B"/>
                  </a:solidFill>
                  <a:latin typeface="Lora Bold"/>
                  <a:ea typeface="Lora Bold"/>
                  <a:cs typeface="Lora Bold"/>
                  <a:sym typeface="Lora Bold"/>
                </a:rPr>
                <a:t>AUDIENCE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092619" y="610929"/>
              <a:ext cx="7375877" cy="1353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1"/>
                </a:lnSpc>
              </a:pPr>
              <a:r>
                <a:rPr lang="en-US" sz="1465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Positioned in the heart of Downtown Atlanta, this dual digital spectacular is located within one of the city’s busiestcommercial and commuter corridors.</a:t>
              </a:r>
            </a:p>
            <a:p>
              <a:pPr algn="l">
                <a:lnSpc>
                  <a:spcPts val="2051"/>
                </a:lnSpc>
              </a:pP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186135" y="2694465"/>
              <a:ext cx="7375877" cy="1353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1"/>
                </a:lnSpc>
              </a:pPr>
              <a:r>
                <a:rPr lang="en-US" sz="1465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large-format digital screens offer dominant visibility at a high-traffic intersection, benefiting from extended dwelltime due to traffic signals and congestion.</a:t>
              </a:r>
            </a:p>
            <a:p>
              <a:pPr algn="l">
                <a:lnSpc>
                  <a:spcPts val="2051"/>
                </a:lnSpc>
              </a:pP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244380" y="4700727"/>
              <a:ext cx="7375877" cy="1009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1"/>
                </a:lnSpc>
              </a:pPr>
              <a:r>
                <a:rPr lang="en-US" sz="1465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Engages a high-density flow of ISC professionals, consultants, and international business travelers moving throughAtlanta’s core, 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253377" y="-25400"/>
              <a:ext cx="1297781" cy="395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1"/>
                </a:lnSpc>
              </a:pPr>
              <a:r>
                <a:rPr lang="en-US" b="true" sz="1815" u="sng">
                  <a:solidFill>
                    <a:srgbClr val="60605E"/>
                  </a:solidFill>
                  <a:latin typeface="Lora Bold"/>
                  <a:ea typeface="Lora Bold"/>
                  <a:cs typeface="Lora Bold"/>
                  <a:sym typeface="Lora Bold"/>
                  <a:hlinkClick r:id="rId6" tooltip="https://maps.app.goo.gl/8bjmv966vMDHqreV6"/>
                </a:rPr>
                <a:t>Map link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2529" y="1487498"/>
            <a:ext cx="8226400" cy="7770802"/>
          </a:xfrm>
          <a:custGeom>
            <a:avLst/>
            <a:gdLst/>
            <a:ahLst/>
            <a:cxnLst/>
            <a:rect r="r" b="b" t="t" l="l"/>
            <a:pathLst>
              <a:path h="7770802" w="8226400">
                <a:moveTo>
                  <a:pt x="0" y="0"/>
                </a:moveTo>
                <a:lnTo>
                  <a:pt x="8226400" y="0"/>
                </a:lnTo>
                <a:lnTo>
                  <a:pt x="8226400" y="7770802"/>
                </a:lnTo>
                <a:lnTo>
                  <a:pt x="0" y="7770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8964" b="-70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83128" y="1487498"/>
            <a:ext cx="8506392" cy="7770802"/>
          </a:xfrm>
          <a:custGeom>
            <a:avLst/>
            <a:gdLst/>
            <a:ahLst/>
            <a:cxnLst/>
            <a:rect r="r" b="b" t="t" l="l"/>
            <a:pathLst>
              <a:path h="7770802" w="8506392">
                <a:moveTo>
                  <a:pt x="0" y="0"/>
                </a:moveTo>
                <a:lnTo>
                  <a:pt x="8506392" y="0"/>
                </a:lnTo>
                <a:lnTo>
                  <a:pt x="8506392" y="7770802"/>
                </a:lnTo>
                <a:lnTo>
                  <a:pt x="0" y="7770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394" r="-60911" b="-14131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694355" y="9438672"/>
            <a:ext cx="19542952" cy="1140581"/>
          </a:xfrm>
          <a:custGeom>
            <a:avLst/>
            <a:gdLst/>
            <a:ahLst/>
            <a:cxnLst/>
            <a:rect r="r" b="b" t="t" l="l"/>
            <a:pathLst>
              <a:path h="1140581" w="19542952">
                <a:moveTo>
                  <a:pt x="19542952" y="0"/>
                </a:moveTo>
                <a:lnTo>
                  <a:pt x="0" y="0"/>
                </a:lnTo>
                <a:lnTo>
                  <a:pt x="0" y="1140581"/>
                </a:lnTo>
                <a:lnTo>
                  <a:pt x="19542952" y="1140581"/>
                </a:lnTo>
                <a:lnTo>
                  <a:pt x="19542952" y="0"/>
                </a:lnTo>
                <a:close/>
              </a:path>
            </a:pathLst>
          </a:custGeom>
          <a:blipFill>
            <a:blip r:embed="rId4"/>
            <a:stretch>
              <a:fillRect l="0" t="-863799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2529" y="132080"/>
            <a:ext cx="729153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ONE TIMES SQUARE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322177" y="247015"/>
            <a:ext cx="186101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-694355" y="9438672"/>
            <a:ext cx="19542952" cy="1140581"/>
          </a:xfrm>
          <a:custGeom>
            <a:avLst/>
            <a:gdLst/>
            <a:ahLst/>
            <a:cxnLst/>
            <a:rect r="r" b="b" t="t" l="l"/>
            <a:pathLst>
              <a:path h="1140581" w="19542952">
                <a:moveTo>
                  <a:pt x="19542952" y="0"/>
                </a:moveTo>
                <a:lnTo>
                  <a:pt x="0" y="0"/>
                </a:lnTo>
                <a:lnTo>
                  <a:pt x="0" y="1140581"/>
                </a:lnTo>
                <a:lnTo>
                  <a:pt x="19542952" y="1140581"/>
                </a:lnTo>
                <a:lnTo>
                  <a:pt x="19542952" y="0"/>
                </a:lnTo>
                <a:close/>
              </a:path>
            </a:pathLst>
          </a:custGeom>
          <a:blipFill>
            <a:blip r:embed="rId2"/>
            <a:stretch>
              <a:fillRect l="0" t="-863799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2578156" y="8269006"/>
            <a:ext cx="0" cy="1040620"/>
          </a:xfrm>
          <a:prstGeom prst="line">
            <a:avLst/>
          </a:prstGeom>
          <a:ln cap="flat" w="9525">
            <a:solidFill>
              <a:srgbClr val="998D8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531521" y="7851818"/>
            <a:ext cx="7013042" cy="1949680"/>
            <a:chOff x="0" y="0"/>
            <a:chExt cx="9350723" cy="2599574"/>
          </a:xfrm>
        </p:grpSpPr>
        <p:sp>
          <p:nvSpPr>
            <p:cNvPr name="AutoShape 6" id="6"/>
            <p:cNvSpPr/>
            <p:nvPr/>
          </p:nvSpPr>
          <p:spPr>
            <a:xfrm flipH="true" flipV="true">
              <a:off x="1363517" y="24184"/>
              <a:ext cx="4634722" cy="11484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372021" y="2586874"/>
              <a:ext cx="4626217" cy="635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188267"/>
              <a:ext cx="6171741" cy="3333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A12C2B"/>
                  </a:solidFill>
                  <a:latin typeface="Lora Bold"/>
                  <a:ea typeface="Lora Bold"/>
                  <a:cs typeface="Lora Bold"/>
                  <a:sym typeface="Lora Bold"/>
                </a:rPr>
                <a:t>NEARBY LANDMARKS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116761" y="1439487"/>
              <a:ext cx="7233962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- 100m </a:t>
              </a:r>
            </a:p>
          </p:txBody>
        </p:sp>
        <p:sp>
          <p:nvSpPr>
            <p:cNvPr name="AutoShape 10" id="10"/>
            <p:cNvSpPr/>
            <p:nvPr/>
          </p:nvSpPr>
          <p:spPr>
            <a:xfrm flipV="true">
              <a:off x="1390443" y="0"/>
              <a:ext cx="0" cy="2557555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5998238" y="35669"/>
              <a:ext cx="0" cy="2557555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5256" y="801041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612693" y="1444503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645106" y="2113366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5" id="15"/>
            <p:cNvSpPr/>
            <p:nvPr/>
          </p:nvSpPr>
          <p:spPr>
            <a:xfrm flipH="true">
              <a:off x="2067299" y="1271784"/>
              <a:ext cx="3990464" cy="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 flipH="true" flipV="true">
              <a:off x="2050685" y="1957003"/>
              <a:ext cx="3947554" cy="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2067288" y="763666"/>
              <a:ext cx="5756269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- 100m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161874" y="2095339"/>
              <a:ext cx="6229889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 m 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244086" y="247015"/>
            <a:ext cx="10043914" cy="7336199"/>
          </a:xfrm>
          <a:custGeom>
            <a:avLst/>
            <a:gdLst/>
            <a:ahLst/>
            <a:cxnLst/>
            <a:rect r="r" b="b" t="t" l="l"/>
            <a:pathLst>
              <a:path h="7336199" w="10043914">
                <a:moveTo>
                  <a:pt x="0" y="0"/>
                </a:moveTo>
                <a:lnTo>
                  <a:pt x="10043914" y="0"/>
                </a:lnTo>
                <a:lnTo>
                  <a:pt x="10043914" y="7336199"/>
                </a:lnTo>
                <a:lnTo>
                  <a:pt x="0" y="7336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914" r="-12924" b="-2914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1369" y="7545114"/>
            <a:ext cx="4628806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A12C2B"/>
                </a:solidFill>
                <a:latin typeface="Lora Bold"/>
                <a:ea typeface="Lora Bold"/>
                <a:cs typeface="Lora Bold"/>
                <a:sym typeface="Lora Bold"/>
              </a:rPr>
              <a:t>TECHNICAL SPECIFICATIONS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54572" y="8230306"/>
            <a:ext cx="1771196" cy="1169666"/>
            <a:chOff x="0" y="0"/>
            <a:chExt cx="2361594" cy="155955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28575"/>
              <a:ext cx="2256628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FORMAT : Static 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558210"/>
              <a:ext cx="2361594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SIZE : 16 x 70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248195"/>
              <a:ext cx="2221590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UNITS : 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844997" y="8259550"/>
            <a:ext cx="3710357" cy="1111178"/>
            <a:chOff x="0" y="0"/>
            <a:chExt cx="4947143" cy="1481571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10044" y="-28575"/>
              <a:ext cx="4668564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SPOT LENGTH : 10 seconds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569926"/>
              <a:ext cx="4688651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FREQUENCY : 10%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170211"/>
              <a:ext cx="4947143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TRAFFIC : 2,000,000 monthly 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61869" y="256540"/>
            <a:ext cx="7982216" cy="257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4900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The Downtown Duo Digitals</a:t>
            </a:r>
          </a:p>
          <a:p>
            <a:pPr algn="l">
              <a:lnSpc>
                <a:spcPts val="6860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0" y="2469086"/>
            <a:ext cx="6465193" cy="5056016"/>
            <a:chOff x="0" y="0"/>
            <a:chExt cx="8620257" cy="6741354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38100"/>
              <a:ext cx="4226472" cy="491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6"/>
                </a:lnSpc>
              </a:pPr>
              <a:r>
                <a:rPr lang="en-US" b="true" sz="2254">
                  <a:solidFill>
                    <a:srgbClr val="A12C2B"/>
                  </a:solidFill>
                  <a:latin typeface="Lora Bold"/>
                  <a:ea typeface="Lora Bold"/>
                  <a:cs typeface="Lora Bold"/>
                  <a:sym typeface="Lora Bold"/>
                </a:rPr>
                <a:t>LOCATION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016505" y="2041618"/>
              <a:ext cx="2049839" cy="967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8"/>
                </a:lnSpc>
              </a:pPr>
              <a:r>
                <a:rPr lang="en-US" b="true" sz="2141">
                  <a:solidFill>
                    <a:srgbClr val="A12C2B"/>
                  </a:solidFill>
                  <a:latin typeface="Lora Bold"/>
                  <a:ea typeface="Lora Bold"/>
                  <a:cs typeface="Lora Bold"/>
                  <a:sym typeface="Lora Bold"/>
                </a:rPr>
                <a:t>VISIBILITY 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940858" y="4062197"/>
              <a:ext cx="2283510" cy="466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8"/>
                </a:lnSpc>
              </a:pPr>
              <a:r>
                <a:rPr lang="en-US" b="true" sz="2141">
                  <a:solidFill>
                    <a:srgbClr val="A12C2B"/>
                  </a:solidFill>
                  <a:latin typeface="Lora Bold"/>
                  <a:ea typeface="Lora Bold"/>
                  <a:cs typeface="Lora Bold"/>
                  <a:sym typeface="Lora Bold"/>
                </a:rPr>
                <a:t>AUDIENCE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092619" y="610929"/>
              <a:ext cx="7375877" cy="1353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1"/>
                </a:lnSpc>
              </a:pPr>
              <a:r>
                <a:rPr lang="en-US" sz="1465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Positioned in the heart of Downtown Atlanta, this dual digital spectacular is located within one of the city’s busiest commercial and commuter corridors.</a:t>
              </a:r>
            </a:p>
            <a:p>
              <a:pPr algn="l">
                <a:lnSpc>
                  <a:spcPts val="2051"/>
                </a:lnSpc>
              </a:pP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186135" y="2694465"/>
              <a:ext cx="7375877" cy="1353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1"/>
                </a:lnSpc>
              </a:pPr>
              <a:r>
                <a:rPr lang="en-US" sz="1465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large-format digital screens offer dominant visibility at a high-traffic intersection, benefiting from extended dwelltime due to traffic signals and congestion.  recall.</a:t>
              </a:r>
            </a:p>
            <a:p>
              <a:pPr algn="l">
                <a:lnSpc>
                  <a:spcPts val="2051"/>
                </a:lnSpc>
              </a:pP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244380" y="4700727"/>
              <a:ext cx="7375877" cy="2040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1"/>
                </a:lnSpc>
              </a:pPr>
              <a:r>
                <a:rPr lang="en-US" sz="1465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High-density flow of ISC professionals, consultants, and international business travelers moving throughAtlanta’s core, many of whom maintain frequent long-haul connections to the Indian Subcontinent and favor premium travel experiences.</a:t>
              </a:r>
            </a:p>
            <a:p>
              <a:pPr algn="l">
                <a:lnSpc>
                  <a:spcPts val="2051"/>
                </a:lnSpc>
              </a:pP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253377" y="-25400"/>
              <a:ext cx="1297781" cy="395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1"/>
                </a:lnSpc>
              </a:pPr>
              <a:r>
                <a:rPr lang="en-US" b="true" sz="1815" u="sng">
                  <a:solidFill>
                    <a:srgbClr val="60605E"/>
                  </a:solidFill>
                  <a:latin typeface="Lora Bold"/>
                  <a:ea typeface="Lora Bold"/>
                  <a:cs typeface="Lora Bold"/>
                  <a:sym typeface="Lora Bold"/>
                  <a:hlinkClick r:id="rId6" tooltip="https://maps.app.goo.gl/8bjmv966vMDHqreV6"/>
                </a:rPr>
                <a:t>Map link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322177" y="247015"/>
            <a:ext cx="186101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-694355" y="9438672"/>
            <a:ext cx="19542952" cy="1140581"/>
          </a:xfrm>
          <a:custGeom>
            <a:avLst/>
            <a:gdLst/>
            <a:ahLst/>
            <a:cxnLst/>
            <a:rect r="r" b="b" t="t" l="l"/>
            <a:pathLst>
              <a:path h="1140581" w="19542952">
                <a:moveTo>
                  <a:pt x="19542952" y="0"/>
                </a:moveTo>
                <a:lnTo>
                  <a:pt x="0" y="0"/>
                </a:lnTo>
                <a:lnTo>
                  <a:pt x="0" y="1140581"/>
                </a:lnTo>
                <a:lnTo>
                  <a:pt x="19542952" y="1140581"/>
                </a:lnTo>
                <a:lnTo>
                  <a:pt x="19542952" y="0"/>
                </a:lnTo>
                <a:close/>
              </a:path>
            </a:pathLst>
          </a:custGeom>
          <a:blipFill>
            <a:blip r:embed="rId2"/>
            <a:stretch>
              <a:fillRect l="0" t="-863799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2578156" y="8269006"/>
            <a:ext cx="0" cy="1040620"/>
          </a:xfrm>
          <a:prstGeom prst="line">
            <a:avLst/>
          </a:prstGeom>
          <a:ln cap="flat" w="9525">
            <a:solidFill>
              <a:srgbClr val="998D8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531521" y="7851818"/>
            <a:ext cx="7013042" cy="1949680"/>
            <a:chOff x="0" y="0"/>
            <a:chExt cx="9350723" cy="2599574"/>
          </a:xfrm>
        </p:grpSpPr>
        <p:sp>
          <p:nvSpPr>
            <p:cNvPr name="AutoShape 6" id="6"/>
            <p:cNvSpPr/>
            <p:nvPr/>
          </p:nvSpPr>
          <p:spPr>
            <a:xfrm flipH="true" flipV="true">
              <a:off x="1363517" y="24184"/>
              <a:ext cx="4634722" cy="11484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372021" y="2586874"/>
              <a:ext cx="4626217" cy="635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188267"/>
              <a:ext cx="6171741" cy="3333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A12C2B"/>
                  </a:solidFill>
                  <a:latin typeface="Lora Bold"/>
                  <a:ea typeface="Lora Bold"/>
                  <a:cs typeface="Lora Bold"/>
                  <a:sym typeface="Lora Bold"/>
                </a:rPr>
                <a:t>NEARBY LANDMARKS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116761" y="1439487"/>
              <a:ext cx="7233962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- 100m </a:t>
              </a:r>
            </a:p>
          </p:txBody>
        </p:sp>
        <p:sp>
          <p:nvSpPr>
            <p:cNvPr name="AutoShape 10" id="10"/>
            <p:cNvSpPr/>
            <p:nvPr/>
          </p:nvSpPr>
          <p:spPr>
            <a:xfrm flipV="true">
              <a:off x="1390443" y="0"/>
              <a:ext cx="0" cy="2557555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5998238" y="35669"/>
              <a:ext cx="0" cy="2557555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5256" y="801041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612693" y="1444503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645106" y="2113366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5" id="15"/>
            <p:cNvSpPr/>
            <p:nvPr/>
          </p:nvSpPr>
          <p:spPr>
            <a:xfrm flipH="true">
              <a:off x="2067299" y="1271784"/>
              <a:ext cx="3990464" cy="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 flipH="true" flipV="true">
              <a:off x="2050685" y="1957003"/>
              <a:ext cx="3947554" cy="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2067288" y="763666"/>
              <a:ext cx="5756269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- 100m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161874" y="2095339"/>
              <a:ext cx="6229889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 m 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429758" y="247015"/>
            <a:ext cx="9858242" cy="7278087"/>
          </a:xfrm>
          <a:custGeom>
            <a:avLst/>
            <a:gdLst/>
            <a:ahLst/>
            <a:cxnLst/>
            <a:rect r="r" b="b" t="t" l="l"/>
            <a:pathLst>
              <a:path h="7278087" w="9858242">
                <a:moveTo>
                  <a:pt x="0" y="0"/>
                </a:moveTo>
                <a:lnTo>
                  <a:pt x="9858242" y="0"/>
                </a:lnTo>
                <a:lnTo>
                  <a:pt x="9858242" y="7278087"/>
                </a:lnTo>
                <a:lnTo>
                  <a:pt x="0" y="7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72" t="-6139" r="-9139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1369" y="7545114"/>
            <a:ext cx="4628806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A12C2B"/>
                </a:solidFill>
                <a:latin typeface="Lora Bold"/>
                <a:ea typeface="Lora Bold"/>
                <a:cs typeface="Lora Bold"/>
                <a:sym typeface="Lora Bold"/>
              </a:rPr>
              <a:t>TECHNICAL SPECIFICATIONS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54572" y="8230306"/>
            <a:ext cx="1771196" cy="1169666"/>
            <a:chOff x="0" y="0"/>
            <a:chExt cx="2361594" cy="155955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28575"/>
              <a:ext cx="2256628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FORMAT : Static 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558210"/>
              <a:ext cx="2361594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SIZE : 45 x 135 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248195"/>
              <a:ext cx="2221590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UNITS : 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844997" y="8259550"/>
            <a:ext cx="3710357" cy="1111178"/>
            <a:chOff x="0" y="0"/>
            <a:chExt cx="4947143" cy="1481571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10044" y="-28575"/>
              <a:ext cx="4668564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SPOT LENGTH : 10 seconds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569926"/>
              <a:ext cx="4688651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FREQUENCY : 10%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170211"/>
              <a:ext cx="4947143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TRAFFIC : 2,000,000 monthly 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-2203518" y="330406"/>
            <a:ext cx="10872229" cy="17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EVEREST DIGITAL </a:t>
            </a:r>
          </a:p>
          <a:p>
            <a:pPr algn="ctr">
              <a:lnSpc>
                <a:spcPts val="686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0" y="2641891"/>
            <a:ext cx="3169854" cy="37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b="true" sz="2254">
                <a:solidFill>
                  <a:srgbClr val="A12C2B"/>
                </a:solidFill>
                <a:latin typeface="Lora Bold"/>
                <a:ea typeface="Lora Bold"/>
                <a:cs typeface="Lora Bold"/>
                <a:sym typeface="Lora Bold"/>
              </a:rPr>
              <a:t>LOCATION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2378" y="4248486"/>
            <a:ext cx="1537380" cy="73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b="true" sz="2141">
                <a:solidFill>
                  <a:srgbClr val="A12C2B"/>
                </a:solidFill>
                <a:latin typeface="Lora Bold"/>
                <a:ea typeface="Lora Bold"/>
                <a:cs typeface="Lora Bold"/>
                <a:sym typeface="Lora Bold"/>
              </a:rPr>
              <a:t>VISIBILITY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5643" y="5763920"/>
            <a:ext cx="1712632" cy="35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b="true" sz="2141">
                <a:solidFill>
                  <a:srgbClr val="A12C2B"/>
                </a:solidFill>
                <a:latin typeface="Lora Bold"/>
                <a:ea typeface="Lora Bold"/>
                <a:cs typeface="Lora Bold"/>
                <a:sym typeface="Lora Bold"/>
              </a:rPr>
              <a:t>AUDIENCE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9464" y="3131044"/>
            <a:ext cx="6595432" cy="102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1"/>
              </a:lnSpc>
            </a:pPr>
            <a:r>
              <a:rPr lang="en-US" sz="14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Located in the NoMad district, one of Manhattan’s fastest-growing luxury and hospitality zones, thisunit sits near Virgin Hotels New York City and key avenues connecting Midtown and Flatiron.</a:t>
            </a:r>
          </a:p>
          <a:p>
            <a:pPr algn="l">
              <a:lnSpc>
                <a:spcPts val="2051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889601" y="4740502"/>
            <a:ext cx="6757273" cy="102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1"/>
              </a:lnSpc>
            </a:pPr>
            <a:r>
              <a:rPr lang="en-US" sz="14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high-impact, architecturally integrated digital unit offering premium, eye-level exposure. While not mass-reach like Times Square, it delivers highly targeted visibility within a concentrated, upscaleenvironment.</a:t>
            </a:r>
          </a:p>
          <a:p>
            <a:pPr algn="l">
              <a:lnSpc>
                <a:spcPts val="2051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933285" y="6245199"/>
            <a:ext cx="5531907" cy="102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1"/>
              </a:lnSpc>
            </a:pPr>
            <a:r>
              <a:rPr lang="en-US" sz="14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Targets affluent professionals, international travelers, and upscale consumers frequenting luxury hotels, fine dining venues, and corporate offices.</a:t>
            </a:r>
          </a:p>
          <a:p>
            <a:pPr algn="l">
              <a:lnSpc>
                <a:spcPts val="2051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2440033" y="2651416"/>
            <a:ext cx="973336" cy="30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b="true" sz="1815" u="sng">
                <a:solidFill>
                  <a:srgbClr val="60605E"/>
                </a:solidFill>
                <a:latin typeface="Lora Bold"/>
                <a:ea typeface="Lora Bold"/>
                <a:cs typeface="Lora Bold"/>
                <a:sym typeface="Lora Bold"/>
                <a:hlinkClick r:id="rId6" tooltip="https://maps.app.goo.gl/8bjmv966vMDHqreV6"/>
              </a:rPr>
              <a:t>Map link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322177" y="247015"/>
            <a:ext cx="186101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-694355" y="9438672"/>
            <a:ext cx="19542952" cy="1140581"/>
          </a:xfrm>
          <a:custGeom>
            <a:avLst/>
            <a:gdLst/>
            <a:ahLst/>
            <a:cxnLst/>
            <a:rect r="r" b="b" t="t" l="l"/>
            <a:pathLst>
              <a:path h="1140581" w="19542952">
                <a:moveTo>
                  <a:pt x="19542952" y="0"/>
                </a:moveTo>
                <a:lnTo>
                  <a:pt x="0" y="0"/>
                </a:lnTo>
                <a:lnTo>
                  <a:pt x="0" y="1140581"/>
                </a:lnTo>
                <a:lnTo>
                  <a:pt x="19542952" y="1140581"/>
                </a:lnTo>
                <a:lnTo>
                  <a:pt x="19542952" y="0"/>
                </a:lnTo>
                <a:close/>
              </a:path>
            </a:pathLst>
          </a:custGeom>
          <a:blipFill>
            <a:blip r:embed="rId2"/>
            <a:stretch>
              <a:fillRect l="0" t="-863799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2578156" y="8269006"/>
            <a:ext cx="0" cy="1040620"/>
          </a:xfrm>
          <a:prstGeom prst="line">
            <a:avLst/>
          </a:prstGeom>
          <a:ln cap="flat" w="9525">
            <a:solidFill>
              <a:srgbClr val="998D8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531521" y="7851818"/>
            <a:ext cx="7013042" cy="1949680"/>
            <a:chOff x="0" y="0"/>
            <a:chExt cx="9350723" cy="2599574"/>
          </a:xfrm>
        </p:grpSpPr>
        <p:sp>
          <p:nvSpPr>
            <p:cNvPr name="AutoShape 6" id="6"/>
            <p:cNvSpPr/>
            <p:nvPr/>
          </p:nvSpPr>
          <p:spPr>
            <a:xfrm flipH="true" flipV="true">
              <a:off x="1363517" y="24184"/>
              <a:ext cx="4634722" cy="11484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372021" y="2586874"/>
              <a:ext cx="4626217" cy="635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188267"/>
              <a:ext cx="6171741" cy="3333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A12C2B"/>
                  </a:solidFill>
                  <a:latin typeface="Lora Bold"/>
                  <a:ea typeface="Lora Bold"/>
                  <a:cs typeface="Lora Bold"/>
                  <a:sym typeface="Lora Bold"/>
                </a:rPr>
                <a:t>NEARBY LANDMARKS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116761" y="1439487"/>
              <a:ext cx="7233962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- 100m </a:t>
              </a:r>
            </a:p>
          </p:txBody>
        </p:sp>
        <p:sp>
          <p:nvSpPr>
            <p:cNvPr name="AutoShape 10" id="10"/>
            <p:cNvSpPr/>
            <p:nvPr/>
          </p:nvSpPr>
          <p:spPr>
            <a:xfrm flipV="true">
              <a:off x="1390443" y="0"/>
              <a:ext cx="0" cy="2557555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5998238" y="35669"/>
              <a:ext cx="0" cy="2557555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5256" y="801041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612693" y="1444503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645106" y="2113366"/>
              <a:ext cx="288169" cy="415378"/>
            </a:xfrm>
            <a:custGeom>
              <a:avLst/>
              <a:gdLst/>
              <a:ahLst/>
              <a:cxnLst/>
              <a:rect r="r" b="b" t="t" l="l"/>
              <a:pathLst>
                <a:path h="415378" w="288169">
                  <a:moveTo>
                    <a:pt x="0" y="0"/>
                  </a:moveTo>
                  <a:lnTo>
                    <a:pt x="288168" y="0"/>
                  </a:lnTo>
                  <a:lnTo>
                    <a:pt x="288168" y="415378"/>
                  </a:lnTo>
                  <a:lnTo>
                    <a:pt x="0" y="41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5" id="15"/>
            <p:cNvSpPr/>
            <p:nvPr/>
          </p:nvSpPr>
          <p:spPr>
            <a:xfrm flipH="true">
              <a:off x="2067299" y="1271784"/>
              <a:ext cx="3990464" cy="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 flipH="true" flipV="true">
              <a:off x="2050685" y="1957003"/>
              <a:ext cx="3947554" cy="0"/>
            </a:xfrm>
            <a:prstGeom prst="line">
              <a:avLst/>
            </a:prstGeom>
            <a:ln cap="flat" w="12700">
              <a:solidFill>
                <a:srgbClr val="998D8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2067288" y="763666"/>
              <a:ext cx="5756269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- 100m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161874" y="2095339"/>
              <a:ext cx="6229889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Broadway - 100 m 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475999" y="302850"/>
            <a:ext cx="9812001" cy="7280364"/>
          </a:xfrm>
          <a:custGeom>
            <a:avLst/>
            <a:gdLst/>
            <a:ahLst/>
            <a:cxnLst/>
            <a:rect r="r" b="b" t="t" l="l"/>
            <a:pathLst>
              <a:path h="7280364" w="9812001">
                <a:moveTo>
                  <a:pt x="0" y="0"/>
                </a:moveTo>
                <a:lnTo>
                  <a:pt x="9812001" y="0"/>
                </a:lnTo>
                <a:lnTo>
                  <a:pt x="9812001" y="7280364"/>
                </a:lnTo>
                <a:lnTo>
                  <a:pt x="0" y="7280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86" t="-7454" r="-841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1369" y="7545114"/>
            <a:ext cx="4628806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A12C2B"/>
                </a:solidFill>
                <a:latin typeface="Lora Bold"/>
                <a:ea typeface="Lora Bold"/>
                <a:cs typeface="Lora Bold"/>
                <a:sym typeface="Lora Bold"/>
              </a:rPr>
              <a:t>TECHNICAL SPECIFICATIONS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54572" y="8230306"/>
            <a:ext cx="1771196" cy="1169666"/>
            <a:chOff x="0" y="0"/>
            <a:chExt cx="2361594" cy="155955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28575"/>
              <a:ext cx="2256628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FORMAT : Static 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558210"/>
              <a:ext cx="2361594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SIZE : 28 x 75 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248195"/>
              <a:ext cx="2221590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UNITS : 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844997" y="8259550"/>
            <a:ext cx="3710357" cy="1111178"/>
            <a:chOff x="0" y="0"/>
            <a:chExt cx="4947143" cy="1481571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10044" y="-28575"/>
              <a:ext cx="4668564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SPOT LENGTH : 10 seconds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569926"/>
              <a:ext cx="4688651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FREQUENCY : 10%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170211"/>
              <a:ext cx="4947143" cy="311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TRAFFIC : 2,000,000 monthly 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-2390085" y="330406"/>
            <a:ext cx="10872229" cy="17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Bryant Park Digital</a:t>
            </a:r>
          </a:p>
          <a:p>
            <a:pPr algn="ctr">
              <a:lnSpc>
                <a:spcPts val="686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0" y="2641891"/>
            <a:ext cx="3169854" cy="37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b="true" sz="2254">
                <a:solidFill>
                  <a:srgbClr val="A12C2B"/>
                </a:solidFill>
                <a:latin typeface="Lora Bold"/>
                <a:ea typeface="Lora Bold"/>
                <a:cs typeface="Lora Bold"/>
                <a:sym typeface="Lora Bold"/>
              </a:rPr>
              <a:t>LOCATION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2378" y="4248486"/>
            <a:ext cx="1537380" cy="73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b="true" sz="2141">
                <a:solidFill>
                  <a:srgbClr val="A12C2B"/>
                </a:solidFill>
                <a:latin typeface="Lora Bold"/>
                <a:ea typeface="Lora Bold"/>
                <a:cs typeface="Lora Bold"/>
                <a:sym typeface="Lora Bold"/>
              </a:rPr>
              <a:t>VISIBILITY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5643" y="5763920"/>
            <a:ext cx="1712632" cy="35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b="true" sz="2141">
                <a:solidFill>
                  <a:srgbClr val="A12C2B"/>
                </a:solidFill>
                <a:latin typeface="Lora Bold"/>
                <a:ea typeface="Lora Bold"/>
                <a:cs typeface="Lora Bold"/>
                <a:sym typeface="Lora Bold"/>
              </a:rPr>
              <a:t>AUDIENCE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9464" y="3131044"/>
            <a:ext cx="6595432" cy="102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1"/>
              </a:lnSpc>
            </a:pPr>
            <a:r>
              <a:rPr lang="en-US" sz="14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Overlooking Bryant Park in Midtown Manhattan, this unit sits within a prime commercial and leisuredistrict surrounded by offices, retail, and cultural attractions.</a:t>
            </a:r>
          </a:p>
          <a:p>
            <a:pPr algn="l">
              <a:lnSpc>
                <a:spcPts val="2051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889601" y="4740502"/>
            <a:ext cx="6757273" cy="102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1"/>
              </a:lnSpc>
            </a:pPr>
            <a:r>
              <a:rPr lang="en-US" sz="14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High-quality digital placement with extended dwell time driven by park visitors, office workers, and nearby pedestrian traffic. The environment enhances attention and engagement.</a:t>
            </a:r>
          </a:p>
          <a:p>
            <a:pPr algn="l">
              <a:lnSpc>
                <a:spcPts val="2051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933285" y="6245199"/>
            <a:ext cx="5531907" cy="76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1"/>
              </a:lnSpc>
            </a:pPr>
            <a:r>
              <a:rPr lang="en-US" sz="14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Reaches a premium mix of office professionals, tourists, and leisure visitors, with strong daytime and lunchtime traffic.</a:t>
            </a:r>
          </a:p>
          <a:p>
            <a:pPr algn="l">
              <a:lnSpc>
                <a:spcPts val="2051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2440033" y="2651416"/>
            <a:ext cx="973336" cy="30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b="true" sz="1815" u="sng">
                <a:solidFill>
                  <a:srgbClr val="60605E"/>
                </a:solidFill>
                <a:latin typeface="Lora Bold"/>
                <a:ea typeface="Lora Bold"/>
                <a:cs typeface="Lora Bold"/>
                <a:sym typeface="Lora Bold"/>
                <a:hlinkClick r:id="rId6" tooltip="https://maps.app.goo.gl/8bjmv966vMDHqreV6"/>
              </a:rPr>
              <a:t>Map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DAHPQdNX0M4</dc:identifier>
  <dcterms:modified xsi:type="dcterms:W3CDTF">2011-08-01T06:04:30Z</dcterms:modified>
  <cp:revision>1</cp:revision>
  <dc:title>New OOH template for sky scale</dc:title>
</cp:coreProperties>
</file>