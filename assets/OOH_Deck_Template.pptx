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Lst>
  <p:sldSz cx="18288000" cy="10287000"/>
  <p:notesSz cx="6858000" cy="9144000"/>
  <p:embeddedFontLst>
    <p:embeddedFont>
      <p:font typeface="Lora Bold" charset="1" panose="00000800000000000000"/>
      <p:regular r:id="rId8"/>
    </p:embeddedFont>
    <p:embeddedFont>
      <p:font typeface="Prata" charset="1" panose="00000500000000000000"/>
      <p:regular r:id="rId9"/>
    </p:embeddedFont>
    <p:embeddedFont>
      <p:font typeface="Canva Sans Bold" charset="1" panose="020B0803030501040103"/>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fonts/font10.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fonts/font8.fntdata" Type="http://schemas.openxmlformats.org/officeDocument/2006/relationships/font"/><Relationship Id="rId9" Target="fonts/font9.fntdata" Type="http://schemas.openxmlformats.org/officeDocument/2006/relationships/font"/></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6F3ED"/>
        </a:solidFill>
      </p:bgPr>
    </p:bg>
    <p:spTree>
      <p:nvGrpSpPr>
        <p:cNvPr id="1" name=""/>
        <p:cNvGrpSpPr/>
        <p:nvPr/>
      </p:nvGrpSpPr>
      <p:grpSpPr>
        <a:xfrm>
          <a:off x="0" y="0"/>
          <a:ext cx="0" cy="0"/>
          <a:chOff x="0" y="0"/>
          <a:chExt cx="0" cy="0"/>
        </a:xfrm>
      </p:grpSpPr>
      <p:sp>
        <p:nvSpPr>
          <p:cNvPr name="Freeform 2" id="2"/>
          <p:cNvSpPr/>
          <p:nvPr/>
        </p:nvSpPr>
        <p:spPr>
          <a:xfrm flipH="false" flipV="false" rot="0">
            <a:off x="6766297" y="274082"/>
            <a:ext cx="4334207" cy="1509237"/>
          </a:xfrm>
          <a:custGeom>
            <a:avLst/>
            <a:gdLst/>
            <a:ahLst/>
            <a:cxnLst/>
            <a:rect r="r" b="b" t="t" l="l"/>
            <a:pathLst>
              <a:path h="1509237" w="4334207">
                <a:moveTo>
                  <a:pt x="0" y="0"/>
                </a:moveTo>
                <a:lnTo>
                  <a:pt x="4334207" y="0"/>
                </a:lnTo>
                <a:lnTo>
                  <a:pt x="4334207" y="1509236"/>
                </a:lnTo>
                <a:lnTo>
                  <a:pt x="0" y="1509236"/>
                </a:lnTo>
                <a:lnTo>
                  <a:pt x="0" y="0"/>
                </a:lnTo>
                <a:close/>
              </a:path>
            </a:pathLst>
          </a:custGeom>
          <a:blipFill>
            <a:blip r:embed="rId2"/>
            <a:stretch>
              <a:fillRect l="0" t="-80206" r="0" b="-94049"/>
            </a:stretch>
          </a:blipFill>
        </p:spPr>
      </p:sp>
      <p:sp>
        <p:nvSpPr>
          <p:cNvPr name="TextBox 3" id="3"/>
          <p:cNvSpPr txBox="true"/>
          <p:nvPr/>
        </p:nvSpPr>
        <p:spPr>
          <a:xfrm rot="0">
            <a:off x="3339778" y="2993072"/>
            <a:ext cx="11608445" cy="1533535"/>
          </a:xfrm>
          <a:prstGeom prst="rect">
            <a:avLst/>
          </a:prstGeom>
        </p:spPr>
        <p:txBody>
          <a:bodyPr anchor="t" rtlCol="false" tIns="0" lIns="0" bIns="0" rIns="0">
            <a:spAutoFit/>
          </a:bodyPr>
          <a:lstStyle/>
          <a:p>
            <a:pPr algn="ctr">
              <a:lnSpc>
                <a:spcPts val="12599"/>
              </a:lnSpc>
            </a:pPr>
            <a:r>
              <a:rPr lang="en-US" sz="8999" b="true">
                <a:solidFill>
                  <a:srgbClr val="000000"/>
                </a:solidFill>
                <a:latin typeface="Lora Bold"/>
                <a:ea typeface="Lora Bold"/>
                <a:cs typeface="Lora Bold"/>
                <a:sym typeface="Lora Bold"/>
              </a:rPr>
              <a:t>Etihad Airways </a:t>
            </a:r>
          </a:p>
        </p:txBody>
      </p:sp>
      <p:sp>
        <p:nvSpPr>
          <p:cNvPr name="TextBox 4" id="4"/>
          <p:cNvSpPr txBox="true"/>
          <p:nvPr/>
        </p:nvSpPr>
        <p:spPr>
          <a:xfrm rot="0">
            <a:off x="3339778" y="4585652"/>
            <a:ext cx="11608445" cy="620393"/>
          </a:xfrm>
          <a:prstGeom prst="rect">
            <a:avLst/>
          </a:prstGeom>
        </p:spPr>
        <p:txBody>
          <a:bodyPr anchor="t" rtlCol="false" tIns="0" lIns="0" bIns="0" rIns="0">
            <a:spAutoFit/>
          </a:bodyPr>
          <a:lstStyle/>
          <a:p>
            <a:pPr algn="ctr">
              <a:lnSpc>
                <a:spcPts val="5180"/>
              </a:lnSpc>
            </a:pPr>
            <a:r>
              <a:rPr lang="en-US" sz="3700" b="true">
                <a:solidFill>
                  <a:srgbClr val="998D89"/>
                </a:solidFill>
                <a:latin typeface="Lora Bold"/>
                <a:ea typeface="Lora Bold"/>
                <a:cs typeface="Lora Bold"/>
                <a:sym typeface="Lora Bold"/>
              </a:rPr>
              <a:t>US Out-Of-Home campaign </a:t>
            </a:r>
          </a:p>
        </p:txBody>
      </p:sp>
      <p:sp>
        <p:nvSpPr>
          <p:cNvPr name="TextBox 5" id="5"/>
          <p:cNvSpPr txBox="true"/>
          <p:nvPr/>
        </p:nvSpPr>
        <p:spPr>
          <a:xfrm rot="0">
            <a:off x="-2064395" y="7977821"/>
            <a:ext cx="11608445" cy="688973"/>
          </a:xfrm>
          <a:prstGeom prst="rect">
            <a:avLst/>
          </a:prstGeom>
        </p:spPr>
        <p:txBody>
          <a:bodyPr anchor="t" rtlCol="false" tIns="0" lIns="0" bIns="0" rIns="0">
            <a:spAutoFit/>
          </a:bodyPr>
          <a:lstStyle/>
          <a:p>
            <a:pPr algn="ctr">
              <a:lnSpc>
                <a:spcPts val="5600"/>
              </a:lnSpc>
            </a:pPr>
            <a:r>
              <a:rPr lang="en-US" sz="4000" b="true">
                <a:solidFill>
                  <a:srgbClr val="000000"/>
                </a:solidFill>
                <a:latin typeface="Lora Bold"/>
                <a:ea typeface="Lora Bold"/>
                <a:cs typeface="Lora Bold"/>
                <a:sym typeface="Lora Bold"/>
              </a:rPr>
              <a:t>Beyond Borders Campaign </a:t>
            </a:r>
          </a:p>
        </p:txBody>
      </p:sp>
      <p:sp>
        <p:nvSpPr>
          <p:cNvPr name="TextBox 6" id="6"/>
          <p:cNvSpPr txBox="true"/>
          <p:nvPr/>
        </p:nvSpPr>
        <p:spPr>
          <a:xfrm rot="0">
            <a:off x="-3037781" y="9578658"/>
            <a:ext cx="11608445" cy="379727"/>
          </a:xfrm>
          <a:prstGeom prst="rect">
            <a:avLst/>
          </a:prstGeom>
        </p:spPr>
        <p:txBody>
          <a:bodyPr anchor="t" rtlCol="false" tIns="0" lIns="0" bIns="0" rIns="0">
            <a:spAutoFit/>
          </a:bodyPr>
          <a:lstStyle/>
          <a:p>
            <a:pPr algn="ctr">
              <a:lnSpc>
                <a:spcPts val="3220"/>
              </a:lnSpc>
            </a:pPr>
            <a:r>
              <a:rPr lang="en-US" sz="2300" b="true">
                <a:solidFill>
                  <a:srgbClr val="998D89"/>
                </a:solidFill>
                <a:latin typeface="Lora Bold"/>
                <a:ea typeface="Lora Bold"/>
                <a:cs typeface="Lora Bold"/>
                <a:sym typeface="Lora Bold"/>
              </a:rPr>
              <a:t>Duration: July 7 - August 7 2026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6F3ED"/>
        </a:solidFill>
      </p:bgPr>
    </p:bg>
    <p:spTree>
      <p:nvGrpSpPr>
        <p:cNvPr id="1" name=""/>
        <p:cNvGrpSpPr/>
        <p:nvPr/>
      </p:nvGrpSpPr>
      <p:grpSpPr>
        <a:xfrm>
          <a:off x="0" y="0"/>
          <a:ext cx="0" cy="0"/>
          <a:chOff x="0" y="0"/>
          <a:chExt cx="0" cy="0"/>
        </a:xfrm>
      </p:grpSpPr>
      <p:sp>
        <p:nvSpPr>
          <p:cNvPr name="AutoShape 2" id="2"/>
          <p:cNvSpPr/>
          <p:nvPr/>
        </p:nvSpPr>
        <p:spPr>
          <a:xfrm>
            <a:off x="-322177" y="247015"/>
            <a:ext cx="18610177" cy="0"/>
          </a:xfrm>
          <a:prstGeom prst="line">
            <a:avLst/>
          </a:prstGeom>
          <a:ln cap="flat" w="9525">
            <a:solidFill>
              <a:srgbClr val="000000"/>
            </a:solidFill>
            <a:prstDash val="solid"/>
            <a:headEnd type="none" len="sm" w="sm"/>
            <a:tailEnd type="none" len="sm" w="sm"/>
          </a:ln>
        </p:spPr>
      </p:sp>
      <p:sp>
        <p:nvSpPr>
          <p:cNvPr name="Freeform 3" id="3"/>
          <p:cNvSpPr/>
          <p:nvPr/>
        </p:nvSpPr>
        <p:spPr>
          <a:xfrm flipH="false" flipV="false" rot="0">
            <a:off x="285905" y="1536381"/>
            <a:ext cx="9625609" cy="4282883"/>
          </a:xfrm>
          <a:custGeom>
            <a:avLst/>
            <a:gdLst/>
            <a:ahLst/>
            <a:cxnLst/>
            <a:rect r="r" b="b" t="t" l="l"/>
            <a:pathLst>
              <a:path h="4282883" w="9625609">
                <a:moveTo>
                  <a:pt x="0" y="0"/>
                </a:moveTo>
                <a:lnTo>
                  <a:pt x="9625609" y="0"/>
                </a:lnTo>
                <a:lnTo>
                  <a:pt x="9625609" y="4282883"/>
                </a:lnTo>
                <a:lnTo>
                  <a:pt x="0" y="4282883"/>
                </a:lnTo>
                <a:lnTo>
                  <a:pt x="0" y="0"/>
                </a:lnTo>
                <a:close/>
              </a:path>
            </a:pathLst>
          </a:custGeom>
          <a:blipFill>
            <a:blip r:embed="rId2"/>
            <a:stretch>
              <a:fillRect l="0" t="-22568" r="0" b="-30089"/>
            </a:stretch>
          </a:blipFill>
        </p:spPr>
      </p:sp>
      <p:sp>
        <p:nvSpPr>
          <p:cNvPr name="Freeform 4" id="4"/>
          <p:cNvSpPr/>
          <p:nvPr/>
        </p:nvSpPr>
        <p:spPr>
          <a:xfrm flipH="false" flipV="false" rot="0">
            <a:off x="102579" y="6019289"/>
            <a:ext cx="9625609" cy="1528065"/>
          </a:xfrm>
          <a:custGeom>
            <a:avLst/>
            <a:gdLst/>
            <a:ahLst/>
            <a:cxnLst/>
            <a:rect r="r" b="b" t="t" l="l"/>
            <a:pathLst>
              <a:path h="1528065" w="9625609">
                <a:moveTo>
                  <a:pt x="0" y="0"/>
                </a:moveTo>
                <a:lnTo>
                  <a:pt x="9625609" y="0"/>
                </a:lnTo>
                <a:lnTo>
                  <a:pt x="9625609" y="1528066"/>
                </a:lnTo>
                <a:lnTo>
                  <a:pt x="0" y="1528066"/>
                </a:lnTo>
                <a:lnTo>
                  <a:pt x="0" y="0"/>
                </a:lnTo>
                <a:close/>
              </a:path>
            </a:pathLst>
          </a:custGeom>
          <a:blipFill>
            <a:blip r:embed="rId3"/>
            <a:stretch>
              <a:fillRect l="0" t="0" r="0" b="0"/>
            </a:stretch>
          </a:blipFill>
        </p:spPr>
      </p:sp>
      <p:sp>
        <p:nvSpPr>
          <p:cNvPr name="TextBox 5" id="5"/>
          <p:cNvSpPr txBox="true"/>
          <p:nvPr/>
        </p:nvSpPr>
        <p:spPr>
          <a:xfrm rot="0">
            <a:off x="7489493" y="347027"/>
            <a:ext cx="3467276" cy="313689"/>
          </a:xfrm>
          <a:prstGeom prst="rect">
            <a:avLst/>
          </a:prstGeom>
        </p:spPr>
        <p:txBody>
          <a:bodyPr anchor="t" rtlCol="false" tIns="0" lIns="0" bIns="0" rIns="0">
            <a:spAutoFit/>
          </a:bodyPr>
          <a:lstStyle/>
          <a:p>
            <a:pPr algn="ctr">
              <a:lnSpc>
                <a:spcPts val="2660"/>
              </a:lnSpc>
            </a:pPr>
            <a:r>
              <a:rPr lang="en-US" b="true" sz="1900">
                <a:solidFill>
                  <a:srgbClr val="A12C2B"/>
                </a:solidFill>
                <a:latin typeface="Lora Bold"/>
                <a:ea typeface="Lora Bold"/>
                <a:cs typeface="Lora Bold"/>
                <a:sym typeface="Lora Bold"/>
              </a:rPr>
              <a:t>Why this Site for X client</a:t>
            </a:r>
          </a:p>
        </p:txBody>
      </p:sp>
      <p:sp>
        <p:nvSpPr>
          <p:cNvPr name="AutoShape 6" id="6"/>
          <p:cNvSpPr/>
          <p:nvPr/>
        </p:nvSpPr>
        <p:spPr>
          <a:xfrm flipH="true" flipV="true">
            <a:off x="7651418" y="0"/>
            <a:ext cx="4762" cy="1536381"/>
          </a:xfrm>
          <a:prstGeom prst="line">
            <a:avLst/>
          </a:prstGeom>
          <a:ln cap="flat" w="9525">
            <a:solidFill>
              <a:srgbClr val="000000"/>
            </a:solidFill>
            <a:prstDash val="solid"/>
            <a:headEnd type="none" len="sm" w="sm"/>
            <a:tailEnd type="none" len="sm" w="sm"/>
          </a:ln>
        </p:spPr>
      </p:sp>
      <p:sp>
        <p:nvSpPr>
          <p:cNvPr name="AutoShape 7" id="7"/>
          <p:cNvSpPr/>
          <p:nvPr/>
        </p:nvSpPr>
        <p:spPr>
          <a:xfrm flipV="true">
            <a:off x="331228" y="8213492"/>
            <a:ext cx="0" cy="1918166"/>
          </a:xfrm>
          <a:prstGeom prst="line">
            <a:avLst/>
          </a:prstGeom>
          <a:ln cap="flat" w="9525">
            <a:solidFill>
              <a:srgbClr val="998D89"/>
            </a:solidFill>
            <a:prstDash val="solid"/>
            <a:headEnd type="none" len="sm" w="sm"/>
            <a:tailEnd type="none" len="sm" w="sm"/>
          </a:ln>
        </p:spPr>
      </p:sp>
      <p:sp>
        <p:nvSpPr>
          <p:cNvPr name="AutoShape 8" id="8"/>
          <p:cNvSpPr/>
          <p:nvPr/>
        </p:nvSpPr>
        <p:spPr>
          <a:xfrm flipV="true">
            <a:off x="8153371" y="8213492"/>
            <a:ext cx="0" cy="1918166"/>
          </a:xfrm>
          <a:prstGeom prst="line">
            <a:avLst/>
          </a:prstGeom>
          <a:ln cap="flat" w="9525">
            <a:solidFill>
              <a:srgbClr val="998D89"/>
            </a:solidFill>
            <a:prstDash val="solid"/>
            <a:headEnd type="none" len="sm" w="sm"/>
            <a:tailEnd type="none" len="sm" w="sm"/>
          </a:ln>
        </p:spPr>
      </p:sp>
      <p:sp>
        <p:nvSpPr>
          <p:cNvPr name="AutoShape 9" id="9"/>
          <p:cNvSpPr/>
          <p:nvPr/>
        </p:nvSpPr>
        <p:spPr>
          <a:xfrm flipH="true" flipV="true">
            <a:off x="315327" y="8200116"/>
            <a:ext cx="7842806" cy="13376"/>
          </a:xfrm>
          <a:prstGeom prst="line">
            <a:avLst/>
          </a:prstGeom>
          <a:ln cap="flat" w="9525">
            <a:solidFill>
              <a:srgbClr val="998D89"/>
            </a:solidFill>
            <a:prstDash val="solid"/>
            <a:headEnd type="none" len="sm" w="sm"/>
            <a:tailEnd type="none" len="sm" w="sm"/>
          </a:ln>
        </p:spPr>
      </p:sp>
      <p:sp>
        <p:nvSpPr>
          <p:cNvPr name="AutoShape 10" id="10"/>
          <p:cNvSpPr/>
          <p:nvPr/>
        </p:nvSpPr>
        <p:spPr>
          <a:xfrm flipH="true" flipV="true">
            <a:off x="321706" y="10122133"/>
            <a:ext cx="7836427" cy="9525"/>
          </a:xfrm>
          <a:prstGeom prst="line">
            <a:avLst/>
          </a:prstGeom>
          <a:ln cap="flat" w="9525">
            <a:solidFill>
              <a:srgbClr val="998D89"/>
            </a:solidFill>
            <a:prstDash val="solid"/>
            <a:headEnd type="none" len="sm" w="sm"/>
            <a:tailEnd type="none" len="sm" w="sm"/>
          </a:ln>
        </p:spPr>
      </p:sp>
      <p:sp>
        <p:nvSpPr>
          <p:cNvPr name="AutoShape 11" id="11"/>
          <p:cNvSpPr/>
          <p:nvPr/>
        </p:nvSpPr>
        <p:spPr>
          <a:xfrm flipH="true" flipV="true">
            <a:off x="4277703" y="8900287"/>
            <a:ext cx="0" cy="1040620"/>
          </a:xfrm>
          <a:prstGeom prst="line">
            <a:avLst/>
          </a:prstGeom>
          <a:ln cap="flat" w="9525">
            <a:solidFill>
              <a:srgbClr val="998D89"/>
            </a:solidFill>
            <a:prstDash val="solid"/>
            <a:headEnd type="none" len="sm" w="sm"/>
            <a:tailEnd type="none" len="sm" w="sm"/>
          </a:ln>
        </p:spPr>
      </p:sp>
      <p:sp>
        <p:nvSpPr>
          <p:cNvPr name="AutoShape 12" id="12"/>
          <p:cNvSpPr/>
          <p:nvPr/>
        </p:nvSpPr>
        <p:spPr>
          <a:xfrm flipH="true">
            <a:off x="9416486" y="8213492"/>
            <a:ext cx="5886665" cy="4762"/>
          </a:xfrm>
          <a:prstGeom prst="line">
            <a:avLst/>
          </a:prstGeom>
          <a:ln cap="flat" w="9525">
            <a:solidFill>
              <a:srgbClr val="998D89"/>
            </a:solidFill>
            <a:prstDash val="solid"/>
            <a:headEnd type="none" len="sm" w="sm"/>
            <a:tailEnd type="none" len="sm" w="sm"/>
          </a:ln>
        </p:spPr>
      </p:sp>
      <p:sp>
        <p:nvSpPr>
          <p:cNvPr name="AutoShape 13" id="13"/>
          <p:cNvSpPr/>
          <p:nvPr/>
        </p:nvSpPr>
        <p:spPr>
          <a:xfrm flipH="true">
            <a:off x="9422864" y="10131658"/>
            <a:ext cx="5880286" cy="8613"/>
          </a:xfrm>
          <a:prstGeom prst="line">
            <a:avLst/>
          </a:prstGeom>
          <a:ln cap="flat" w="9525">
            <a:solidFill>
              <a:srgbClr val="998D89"/>
            </a:solidFill>
            <a:prstDash val="solid"/>
            <a:headEnd type="none" len="sm" w="sm"/>
            <a:tailEnd type="none" len="sm" w="sm"/>
          </a:ln>
        </p:spPr>
      </p:sp>
      <p:sp>
        <p:nvSpPr>
          <p:cNvPr name="TextBox 14" id="14"/>
          <p:cNvSpPr txBox="true"/>
          <p:nvPr/>
        </p:nvSpPr>
        <p:spPr>
          <a:xfrm rot="0">
            <a:off x="8393848" y="8334173"/>
            <a:ext cx="4628806" cy="257174"/>
          </a:xfrm>
          <a:prstGeom prst="rect">
            <a:avLst/>
          </a:prstGeom>
        </p:spPr>
        <p:txBody>
          <a:bodyPr anchor="t" rtlCol="false" tIns="0" lIns="0" bIns="0" rIns="0">
            <a:spAutoFit/>
          </a:bodyPr>
          <a:lstStyle/>
          <a:p>
            <a:pPr algn="ctr">
              <a:lnSpc>
                <a:spcPts val="2100"/>
              </a:lnSpc>
            </a:pPr>
            <a:r>
              <a:rPr lang="en-US" sz="1500" b="true">
                <a:solidFill>
                  <a:srgbClr val="A12C2B"/>
                </a:solidFill>
                <a:latin typeface="Lora Bold"/>
                <a:ea typeface="Lora Bold"/>
                <a:cs typeface="Lora Bold"/>
                <a:sym typeface="Lora Bold"/>
              </a:rPr>
              <a:t>NEARBY LANDMARKS </a:t>
            </a:r>
          </a:p>
        </p:txBody>
      </p:sp>
      <p:sp>
        <p:nvSpPr>
          <p:cNvPr name="TextBox 15" id="15"/>
          <p:cNvSpPr txBox="true"/>
          <p:nvPr/>
        </p:nvSpPr>
        <p:spPr>
          <a:xfrm rot="0">
            <a:off x="9981419" y="9272587"/>
            <a:ext cx="5425471"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Broadway - 100m </a:t>
            </a:r>
          </a:p>
        </p:txBody>
      </p:sp>
      <p:sp>
        <p:nvSpPr>
          <p:cNvPr name="AutoShape 16" id="16"/>
          <p:cNvSpPr/>
          <p:nvPr/>
        </p:nvSpPr>
        <p:spPr>
          <a:xfrm flipV="true">
            <a:off x="9436680" y="8200116"/>
            <a:ext cx="0" cy="1918166"/>
          </a:xfrm>
          <a:prstGeom prst="line">
            <a:avLst/>
          </a:prstGeom>
          <a:ln cap="flat" w="9525">
            <a:solidFill>
              <a:srgbClr val="998D89"/>
            </a:solidFill>
            <a:prstDash val="solid"/>
            <a:headEnd type="none" len="sm" w="sm"/>
            <a:tailEnd type="none" len="sm" w="sm"/>
          </a:ln>
        </p:spPr>
      </p:sp>
      <p:sp>
        <p:nvSpPr>
          <p:cNvPr name="AutoShape 17" id="17"/>
          <p:cNvSpPr/>
          <p:nvPr/>
        </p:nvSpPr>
        <p:spPr>
          <a:xfrm flipV="true">
            <a:off x="15303150" y="8213492"/>
            <a:ext cx="0" cy="1918166"/>
          </a:xfrm>
          <a:prstGeom prst="line">
            <a:avLst/>
          </a:prstGeom>
          <a:ln cap="flat" w="9525">
            <a:solidFill>
              <a:srgbClr val="998D89"/>
            </a:solidFill>
            <a:prstDash val="solid"/>
            <a:headEnd type="none" len="sm" w="sm"/>
            <a:tailEnd type="none" len="sm" w="sm"/>
          </a:ln>
        </p:spPr>
      </p:sp>
      <p:sp>
        <p:nvSpPr>
          <p:cNvPr name="Freeform 18" id="18"/>
          <p:cNvSpPr/>
          <p:nvPr/>
        </p:nvSpPr>
        <p:spPr>
          <a:xfrm flipH="false" flipV="false" rot="0">
            <a:off x="9575290" y="8800897"/>
            <a:ext cx="216126" cy="311534"/>
          </a:xfrm>
          <a:custGeom>
            <a:avLst/>
            <a:gdLst/>
            <a:ahLst/>
            <a:cxnLst/>
            <a:rect r="r" b="b" t="t" l="l"/>
            <a:pathLst>
              <a:path h="311534" w="216126">
                <a:moveTo>
                  <a:pt x="0" y="0"/>
                </a:moveTo>
                <a:lnTo>
                  <a:pt x="216127" y="0"/>
                </a:lnTo>
                <a:lnTo>
                  <a:pt x="216127" y="311533"/>
                </a:lnTo>
                <a:lnTo>
                  <a:pt x="0" y="31153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9" id="19"/>
          <p:cNvSpPr/>
          <p:nvPr/>
        </p:nvSpPr>
        <p:spPr>
          <a:xfrm flipH="false" flipV="false" rot="0">
            <a:off x="9603368" y="9310068"/>
            <a:ext cx="216126" cy="311534"/>
          </a:xfrm>
          <a:custGeom>
            <a:avLst/>
            <a:gdLst/>
            <a:ahLst/>
            <a:cxnLst/>
            <a:rect r="r" b="b" t="t" l="l"/>
            <a:pathLst>
              <a:path h="311534" w="216126">
                <a:moveTo>
                  <a:pt x="0" y="0"/>
                </a:moveTo>
                <a:lnTo>
                  <a:pt x="216126" y="0"/>
                </a:lnTo>
                <a:lnTo>
                  <a:pt x="216126" y="311534"/>
                </a:lnTo>
                <a:lnTo>
                  <a:pt x="0" y="31153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0" id="20"/>
          <p:cNvSpPr/>
          <p:nvPr/>
        </p:nvSpPr>
        <p:spPr>
          <a:xfrm flipH="false" flipV="false" rot="0">
            <a:off x="9656253" y="9785141"/>
            <a:ext cx="216126" cy="311534"/>
          </a:xfrm>
          <a:custGeom>
            <a:avLst/>
            <a:gdLst/>
            <a:ahLst/>
            <a:cxnLst/>
            <a:rect r="r" b="b" t="t" l="l"/>
            <a:pathLst>
              <a:path h="311534" w="216126">
                <a:moveTo>
                  <a:pt x="0" y="0"/>
                </a:moveTo>
                <a:lnTo>
                  <a:pt x="216126" y="0"/>
                </a:lnTo>
                <a:lnTo>
                  <a:pt x="216126" y="311533"/>
                </a:lnTo>
                <a:lnTo>
                  <a:pt x="0" y="31153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21" id="21"/>
          <p:cNvSpPr/>
          <p:nvPr/>
        </p:nvSpPr>
        <p:spPr>
          <a:xfrm flipH="true" flipV="true">
            <a:off x="9944322" y="9153954"/>
            <a:ext cx="5358828" cy="18621"/>
          </a:xfrm>
          <a:prstGeom prst="line">
            <a:avLst/>
          </a:prstGeom>
          <a:ln cap="flat" w="9525">
            <a:solidFill>
              <a:srgbClr val="998D89"/>
            </a:solidFill>
            <a:prstDash val="solid"/>
            <a:headEnd type="none" len="sm" w="sm"/>
            <a:tailEnd type="none" len="sm" w="sm"/>
          </a:ln>
        </p:spPr>
      </p:sp>
      <p:sp>
        <p:nvSpPr>
          <p:cNvPr name="AutoShape 22" id="22"/>
          <p:cNvSpPr/>
          <p:nvPr/>
        </p:nvSpPr>
        <p:spPr>
          <a:xfrm flipH="true" flipV="true">
            <a:off x="9931862" y="9667868"/>
            <a:ext cx="5358828" cy="18621"/>
          </a:xfrm>
          <a:prstGeom prst="line">
            <a:avLst/>
          </a:prstGeom>
          <a:ln cap="flat" w="9525">
            <a:solidFill>
              <a:srgbClr val="998D89"/>
            </a:solidFill>
            <a:prstDash val="solid"/>
            <a:headEnd type="none" len="sm" w="sm"/>
            <a:tailEnd type="none" len="sm" w="sm"/>
          </a:ln>
        </p:spPr>
      </p:sp>
      <p:sp>
        <p:nvSpPr>
          <p:cNvPr name="Freeform 23" id="23"/>
          <p:cNvSpPr/>
          <p:nvPr/>
        </p:nvSpPr>
        <p:spPr>
          <a:xfrm flipH="false" flipV="false" rot="0">
            <a:off x="15809583" y="-672071"/>
            <a:ext cx="2708934" cy="2587032"/>
          </a:xfrm>
          <a:custGeom>
            <a:avLst/>
            <a:gdLst/>
            <a:ahLst/>
            <a:cxnLst/>
            <a:rect r="r" b="b" t="t" l="l"/>
            <a:pathLst>
              <a:path h="2587032" w="2708934">
                <a:moveTo>
                  <a:pt x="0" y="0"/>
                </a:moveTo>
                <a:lnTo>
                  <a:pt x="2708934" y="0"/>
                </a:lnTo>
                <a:lnTo>
                  <a:pt x="2708934" y="2587033"/>
                </a:lnTo>
                <a:lnTo>
                  <a:pt x="0" y="2587033"/>
                </a:lnTo>
                <a:lnTo>
                  <a:pt x="0" y="0"/>
                </a:lnTo>
                <a:close/>
              </a:path>
            </a:pathLst>
          </a:custGeom>
          <a:blipFill>
            <a:blip r:embed="rId6"/>
            <a:stretch>
              <a:fillRect l="0" t="0" r="0" b="0"/>
            </a:stretch>
          </a:blipFill>
        </p:spPr>
      </p:sp>
      <p:sp>
        <p:nvSpPr>
          <p:cNvPr name="TextBox 24" id="24"/>
          <p:cNvSpPr txBox="true"/>
          <p:nvPr/>
        </p:nvSpPr>
        <p:spPr>
          <a:xfrm rot="0">
            <a:off x="102579" y="347027"/>
            <a:ext cx="7291536" cy="896620"/>
          </a:xfrm>
          <a:prstGeom prst="rect">
            <a:avLst/>
          </a:prstGeom>
        </p:spPr>
        <p:txBody>
          <a:bodyPr anchor="t" rtlCol="false" tIns="0" lIns="0" bIns="0" rIns="0">
            <a:spAutoFit/>
          </a:bodyPr>
          <a:lstStyle/>
          <a:p>
            <a:pPr algn="ctr">
              <a:lnSpc>
                <a:spcPts val="7279"/>
              </a:lnSpc>
            </a:pPr>
            <a:r>
              <a:rPr lang="en-US" sz="5199">
                <a:solidFill>
                  <a:srgbClr val="000000"/>
                </a:solidFill>
                <a:latin typeface="Prata"/>
                <a:ea typeface="Prata"/>
                <a:cs typeface="Prata"/>
                <a:sym typeface="Prata"/>
              </a:rPr>
              <a:t>ONE TIMES SQUARE </a:t>
            </a:r>
          </a:p>
        </p:txBody>
      </p:sp>
      <p:sp>
        <p:nvSpPr>
          <p:cNvPr name="TextBox 25" id="25"/>
          <p:cNvSpPr txBox="true"/>
          <p:nvPr/>
        </p:nvSpPr>
        <p:spPr>
          <a:xfrm rot="0">
            <a:off x="-2164022" y="1148398"/>
            <a:ext cx="8452207" cy="264159"/>
          </a:xfrm>
          <a:prstGeom prst="rect">
            <a:avLst/>
          </a:prstGeom>
        </p:spPr>
        <p:txBody>
          <a:bodyPr anchor="t" rtlCol="false" tIns="0" lIns="0" bIns="0" rIns="0">
            <a:spAutoFit/>
          </a:bodyPr>
          <a:lstStyle/>
          <a:p>
            <a:pPr algn="ctr">
              <a:lnSpc>
                <a:spcPts val="2240"/>
              </a:lnSpc>
            </a:pPr>
            <a:r>
              <a:rPr lang="en-US" b="true" sz="1600">
                <a:solidFill>
                  <a:srgbClr val="A12C2B"/>
                </a:solidFill>
                <a:latin typeface="Canva Sans Bold"/>
                <a:ea typeface="Canva Sans Bold"/>
                <a:cs typeface="Canva Sans Bold"/>
                <a:sym typeface="Canva Sans Bold"/>
              </a:rPr>
              <a:t>NEW YORK  |  THE BALL DROP TOWER</a:t>
            </a:r>
          </a:p>
        </p:txBody>
      </p:sp>
      <p:sp>
        <p:nvSpPr>
          <p:cNvPr name="TextBox 26" id="26"/>
          <p:cNvSpPr txBox="true"/>
          <p:nvPr/>
        </p:nvSpPr>
        <p:spPr>
          <a:xfrm rot="0">
            <a:off x="9144000" y="2080062"/>
            <a:ext cx="3467276" cy="339724"/>
          </a:xfrm>
          <a:prstGeom prst="rect">
            <a:avLst/>
          </a:prstGeom>
        </p:spPr>
        <p:txBody>
          <a:bodyPr anchor="t" rtlCol="false" tIns="0" lIns="0" bIns="0" rIns="0">
            <a:spAutoFit/>
          </a:bodyPr>
          <a:lstStyle/>
          <a:p>
            <a:pPr algn="ctr">
              <a:lnSpc>
                <a:spcPts val="2800"/>
              </a:lnSpc>
            </a:pPr>
            <a:r>
              <a:rPr lang="en-US" b="true" sz="2000">
                <a:solidFill>
                  <a:srgbClr val="A12C2B"/>
                </a:solidFill>
                <a:latin typeface="Lora Bold"/>
                <a:ea typeface="Lora Bold"/>
                <a:cs typeface="Lora Bold"/>
                <a:sym typeface="Lora Bold"/>
              </a:rPr>
              <a:t>LOCATION </a:t>
            </a:r>
          </a:p>
        </p:txBody>
      </p:sp>
      <p:sp>
        <p:nvSpPr>
          <p:cNvPr name="TextBox 27" id="27"/>
          <p:cNvSpPr txBox="true"/>
          <p:nvPr/>
        </p:nvSpPr>
        <p:spPr>
          <a:xfrm rot="0">
            <a:off x="10106429" y="4153337"/>
            <a:ext cx="1681629" cy="313689"/>
          </a:xfrm>
          <a:prstGeom prst="rect">
            <a:avLst/>
          </a:prstGeom>
        </p:spPr>
        <p:txBody>
          <a:bodyPr anchor="t" rtlCol="false" tIns="0" lIns="0" bIns="0" rIns="0">
            <a:spAutoFit/>
          </a:bodyPr>
          <a:lstStyle/>
          <a:p>
            <a:pPr algn="ctr">
              <a:lnSpc>
                <a:spcPts val="2660"/>
              </a:lnSpc>
            </a:pPr>
            <a:r>
              <a:rPr lang="en-US" b="true" sz="1900">
                <a:solidFill>
                  <a:srgbClr val="A12C2B"/>
                </a:solidFill>
                <a:latin typeface="Lora Bold"/>
                <a:ea typeface="Lora Bold"/>
                <a:cs typeface="Lora Bold"/>
                <a:sym typeface="Lora Bold"/>
              </a:rPr>
              <a:t>VISIBILITY </a:t>
            </a:r>
          </a:p>
        </p:txBody>
      </p:sp>
      <p:sp>
        <p:nvSpPr>
          <p:cNvPr name="TextBox 28" id="28"/>
          <p:cNvSpPr txBox="true"/>
          <p:nvPr/>
        </p:nvSpPr>
        <p:spPr>
          <a:xfrm rot="0">
            <a:off x="9991531" y="6203125"/>
            <a:ext cx="1873326" cy="313689"/>
          </a:xfrm>
          <a:prstGeom prst="rect">
            <a:avLst/>
          </a:prstGeom>
        </p:spPr>
        <p:txBody>
          <a:bodyPr anchor="t" rtlCol="false" tIns="0" lIns="0" bIns="0" rIns="0">
            <a:spAutoFit/>
          </a:bodyPr>
          <a:lstStyle/>
          <a:p>
            <a:pPr algn="ctr">
              <a:lnSpc>
                <a:spcPts val="2660"/>
              </a:lnSpc>
            </a:pPr>
            <a:r>
              <a:rPr lang="en-US" b="true" sz="1900">
                <a:solidFill>
                  <a:srgbClr val="A12C2B"/>
                </a:solidFill>
                <a:latin typeface="Lora Bold"/>
                <a:ea typeface="Lora Bold"/>
                <a:cs typeface="Lora Bold"/>
                <a:sym typeface="Lora Bold"/>
              </a:rPr>
              <a:t>AUDIENCE</a:t>
            </a:r>
          </a:p>
        </p:txBody>
      </p:sp>
      <p:sp>
        <p:nvSpPr>
          <p:cNvPr name="TextBox 29" id="29"/>
          <p:cNvSpPr txBox="true"/>
          <p:nvPr/>
        </p:nvSpPr>
        <p:spPr>
          <a:xfrm rot="0">
            <a:off x="-408254" y="8313504"/>
            <a:ext cx="4628806" cy="264159"/>
          </a:xfrm>
          <a:prstGeom prst="rect">
            <a:avLst/>
          </a:prstGeom>
        </p:spPr>
        <p:txBody>
          <a:bodyPr anchor="t" rtlCol="false" tIns="0" lIns="0" bIns="0" rIns="0">
            <a:spAutoFit/>
          </a:bodyPr>
          <a:lstStyle/>
          <a:p>
            <a:pPr algn="ctr">
              <a:lnSpc>
                <a:spcPts val="2240"/>
              </a:lnSpc>
            </a:pPr>
            <a:r>
              <a:rPr lang="en-US" b="true" sz="1600">
                <a:solidFill>
                  <a:srgbClr val="A12C2B"/>
                </a:solidFill>
                <a:latin typeface="Lora Bold"/>
                <a:ea typeface="Lora Bold"/>
                <a:cs typeface="Lora Bold"/>
                <a:sym typeface="Lora Bold"/>
              </a:rPr>
              <a:t>TECHNICAL SPECIFICATIONS</a:t>
            </a:r>
          </a:p>
        </p:txBody>
      </p:sp>
      <p:sp>
        <p:nvSpPr>
          <p:cNvPr name="TextBox 30" id="30"/>
          <p:cNvSpPr txBox="true"/>
          <p:nvPr/>
        </p:nvSpPr>
        <p:spPr>
          <a:xfrm rot="0">
            <a:off x="437674" y="8813278"/>
            <a:ext cx="3958615"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FORMAT : Digital </a:t>
            </a:r>
          </a:p>
        </p:txBody>
      </p:sp>
      <p:sp>
        <p:nvSpPr>
          <p:cNvPr name="TextBox 31" id="31"/>
          <p:cNvSpPr txBox="true"/>
          <p:nvPr/>
        </p:nvSpPr>
        <p:spPr>
          <a:xfrm rot="0">
            <a:off x="437674" y="9253367"/>
            <a:ext cx="4142749"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SIZE : 8 x 4 m </a:t>
            </a:r>
          </a:p>
        </p:txBody>
      </p:sp>
      <p:sp>
        <p:nvSpPr>
          <p:cNvPr name="TextBox 32" id="32"/>
          <p:cNvSpPr txBox="true"/>
          <p:nvPr/>
        </p:nvSpPr>
        <p:spPr>
          <a:xfrm rot="0">
            <a:off x="437674" y="9770856"/>
            <a:ext cx="3897151"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UNITS : 4 </a:t>
            </a:r>
          </a:p>
        </p:txBody>
      </p:sp>
      <p:sp>
        <p:nvSpPr>
          <p:cNvPr name="TextBox 33" id="33"/>
          <p:cNvSpPr txBox="true"/>
          <p:nvPr/>
        </p:nvSpPr>
        <p:spPr>
          <a:xfrm rot="0">
            <a:off x="4455309" y="8871766"/>
            <a:ext cx="3501423"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SPOT LENGTH : 10 seconds </a:t>
            </a:r>
          </a:p>
        </p:txBody>
      </p:sp>
      <p:sp>
        <p:nvSpPr>
          <p:cNvPr name="TextBox 34" id="34"/>
          <p:cNvSpPr txBox="true"/>
          <p:nvPr/>
        </p:nvSpPr>
        <p:spPr>
          <a:xfrm rot="0">
            <a:off x="4447776" y="9320642"/>
            <a:ext cx="3516488"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FREQUENCY : 20%</a:t>
            </a:r>
          </a:p>
        </p:txBody>
      </p:sp>
      <p:sp>
        <p:nvSpPr>
          <p:cNvPr name="TextBox 35" id="35"/>
          <p:cNvSpPr txBox="true"/>
          <p:nvPr/>
        </p:nvSpPr>
        <p:spPr>
          <a:xfrm rot="0">
            <a:off x="4447776" y="9770856"/>
            <a:ext cx="3710357"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TRAFFIC : 2,000,000 monthly </a:t>
            </a:r>
          </a:p>
        </p:txBody>
      </p:sp>
      <p:sp>
        <p:nvSpPr>
          <p:cNvPr name="TextBox 36" id="36"/>
          <p:cNvSpPr txBox="true"/>
          <p:nvPr/>
        </p:nvSpPr>
        <p:spPr>
          <a:xfrm rot="0">
            <a:off x="9944314" y="8765722"/>
            <a:ext cx="4317202"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Broadway - 100m </a:t>
            </a:r>
          </a:p>
        </p:txBody>
      </p:sp>
      <p:sp>
        <p:nvSpPr>
          <p:cNvPr name="TextBox 37" id="37"/>
          <p:cNvSpPr txBox="true"/>
          <p:nvPr/>
        </p:nvSpPr>
        <p:spPr>
          <a:xfrm rot="0">
            <a:off x="10015254" y="9764477"/>
            <a:ext cx="4672416" cy="240664"/>
          </a:xfrm>
          <a:prstGeom prst="rect">
            <a:avLst/>
          </a:prstGeom>
        </p:spPr>
        <p:txBody>
          <a:bodyPr anchor="t" rtlCol="false" tIns="0" lIns="0" bIns="0" rIns="0">
            <a:spAutoFit/>
          </a:bodyPr>
          <a:lstStyle/>
          <a:p>
            <a:pPr algn="l">
              <a:lnSpc>
                <a:spcPts val="1960"/>
              </a:lnSpc>
            </a:pPr>
            <a:r>
              <a:rPr lang="en-US" sz="1400" b="true">
                <a:solidFill>
                  <a:srgbClr val="000000"/>
                </a:solidFill>
                <a:latin typeface="Lora Bold"/>
                <a:ea typeface="Lora Bold"/>
                <a:cs typeface="Lora Bold"/>
                <a:sym typeface="Lora Bold"/>
              </a:rPr>
              <a:t>Broadway - 100 m </a:t>
            </a:r>
          </a:p>
        </p:txBody>
      </p:sp>
      <p:sp>
        <p:nvSpPr>
          <p:cNvPr name="TextBox 38" id="38"/>
          <p:cNvSpPr txBox="true"/>
          <p:nvPr/>
        </p:nvSpPr>
        <p:spPr>
          <a:xfrm rot="0">
            <a:off x="7797073" y="767398"/>
            <a:ext cx="6050956" cy="462279"/>
          </a:xfrm>
          <a:prstGeom prst="rect">
            <a:avLst/>
          </a:prstGeom>
        </p:spPr>
        <p:txBody>
          <a:bodyPr anchor="t" rtlCol="false" tIns="0" lIns="0" bIns="0" rIns="0">
            <a:spAutoFit/>
          </a:bodyPr>
          <a:lstStyle/>
          <a:p>
            <a:pPr algn="l">
              <a:lnSpc>
                <a:spcPts val="1820"/>
              </a:lnSpc>
            </a:pPr>
            <a:r>
              <a:rPr lang="en-US" sz="1300" b="true">
                <a:solidFill>
                  <a:srgbClr val="000000"/>
                </a:solidFill>
                <a:latin typeface="Canva Sans Bold"/>
                <a:ea typeface="Canva Sans Bold"/>
                <a:cs typeface="Canva Sans Bold"/>
                <a:sym typeface="Canva Sans Bold"/>
              </a:rPr>
              <a:t>It reaches the target audience that Etihad Airways is looking for, includes diverse high - value audience </a:t>
            </a:r>
          </a:p>
        </p:txBody>
      </p:sp>
      <p:sp>
        <p:nvSpPr>
          <p:cNvPr name="TextBox 39" id="39"/>
          <p:cNvSpPr txBox="true"/>
          <p:nvPr/>
        </p:nvSpPr>
        <p:spPr>
          <a:xfrm rot="0">
            <a:off x="10194587" y="2505512"/>
            <a:ext cx="6050956" cy="1376679"/>
          </a:xfrm>
          <a:prstGeom prst="rect">
            <a:avLst/>
          </a:prstGeom>
        </p:spPr>
        <p:txBody>
          <a:bodyPr anchor="t" rtlCol="false" tIns="0" lIns="0" bIns="0" rIns="0">
            <a:spAutoFit/>
          </a:bodyPr>
          <a:lstStyle/>
          <a:p>
            <a:pPr algn="l">
              <a:lnSpc>
                <a:spcPts val="1820"/>
              </a:lnSpc>
            </a:pPr>
            <a:r>
              <a:rPr lang="en-US" sz="1300" b="true">
                <a:solidFill>
                  <a:srgbClr val="000000"/>
                </a:solidFill>
                <a:latin typeface="Canva Sans Bold"/>
                <a:ea typeface="Canva Sans Bold"/>
                <a:cs typeface="Canva Sans Bold"/>
                <a:sym typeface="Canva Sans Bold"/>
              </a:rPr>
              <a:t>Positioned in the heart of Downtown Atlanta, this dual digital spectacular is located within one of the city’s busiestcommercial and commuter corridors, surrounded by office towers, retail spaces, and major intersections that generatecontinuous vehicular and pedestrian movement throughout the day.</a:t>
            </a:r>
          </a:p>
          <a:p>
            <a:pPr algn="l">
              <a:lnSpc>
                <a:spcPts val="1820"/>
              </a:lnSpc>
            </a:pPr>
          </a:p>
        </p:txBody>
      </p:sp>
      <p:sp>
        <p:nvSpPr>
          <p:cNvPr name="TextBox 40" id="40"/>
          <p:cNvSpPr txBox="true"/>
          <p:nvPr/>
        </p:nvSpPr>
        <p:spPr>
          <a:xfrm rot="0">
            <a:off x="10261420" y="4571801"/>
            <a:ext cx="6050956" cy="1148079"/>
          </a:xfrm>
          <a:prstGeom prst="rect">
            <a:avLst/>
          </a:prstGeom>
        </p:spPr>
        <p:txBody>
          <a:bodyPr anchor="t" rtlCol="false" tIns="0" lIns="0" bIns="0" rIns="0">
            <a:spAutoFit/>
          </a:bodyPr>
          <a:lstStyle/>
          <a:p>
            <a:pPr algn="l">
              <a:lnSpc>
                <a:spcPts val="1820"/>
              </a:lnSpc>
            </a:pPr>
            <a:r>
              <a:rPr lang="en-US" sz="1300" b="true">
                <a:solidFill>
                  <a:srgbClr val="000000"/>
                </a:solidFill>
                <a:latin typeface="Canva Sans Bold"/>
                <a:ea typeface="Canva Sans Bold"/>
                <a:cs typeface="Canva Sans Bold"/>
                <a:sym typeface="Canva Sans Bold"/>
              </a:rPr>
              <a:t>The large-format digital screens offer dominant visibility at a high-traffic intersection, benefiting from extended dwelltime due to traffic signals and congestion. Full-motion capability combined with repeated exposure (10% SOV within a 6-minute loop) ensures strong and consistent brand recall.</a:t>
            </a:r>
          </a:p>
          <a:p>
            <a:pPr algn="l">
              <a:lnSpc>
                <a:spcPts val="1820"/>
              </a:lnSpc>
            </a:pPr>
          </a:p>
        </p:txBody>
      </p:sp>
      <p:sp>
        <p:nvSpPr>
          <p:cNvPr name="TextBox 41" id="41"/>
          <p:cNvSpPr txBox="true"/>
          <p:nvPr/>
        </p:nvSpPr>
        <p:spPr>
          <a:xfrm rot="0">
            <a:off x="10309203" y="6612064"/>
            <a:ext cx="6050956" cy="1148079"/>
          </a:xfrm>
          <a:prstGeom prst="rect">
            <a:avLst/>
          </a:prstGeom>
        </p:spPr>
        <p:txBody>
          <a:bodyPr anchor="t" rtlCol="false" tIns="0" lIns="0" bIns="0" rIns="0">
            <a:spAutoFit/>
          </a:bodyPr>
          <a:lstStyle/>
          <a:p>
            <a:pPr algn="l">
              <a:lnSpc>
                <a:spcPts val="1820"/>
              </a:lnSpc>
            </a:pPr>
            <a:r>
              <a:rPr lang="en-US" sz="1300" b="true">
                <a:solidFill>
                  <a:srgbClr val="000000"/>
                </a:solidFill>
                <a:latin typeface="Canva Sans Bold"/>
                <a:ea typeface="Canva Sans Bold"/>
                <a:cs typeface="Canva Sans Bold"/>
                <a:sym typeface="Canva Sans Bold"/>
              </a:rPr>
              <a:t>Engages a high-density flow of ISC professionals, consultants, and international business travelers moving throughAtlanta’s core, many of whom maintain frequent long-haul connections to the Indian Subcontinent and favor premium travel experiences.</a:t>
            </a:r>
          </a:p>
          <a:p>
            <a:pPr algn="l">
              <a:lnSpc>
                <a:spcPts val="1820"/>
              </a:lnSpc>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DAHPQdNX0M4</dc:identifier>
  <dcterms:modified xsi:type="dcterms:W3CDTF">2011-08-01T06:04:30Z</dcterms:modified>
  <cp:revision>1</cp:revision>
  <dc:title>ONE TIMES SQUARE</dc:title>
</cp:coreProperties>
</file>